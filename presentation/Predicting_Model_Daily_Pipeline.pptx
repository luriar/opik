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474" y="-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  <p:sp>
        <p:nvSpPr>
          <p:cNvPr id="4" name="직사각형 3"/>
          <p:cNvSpPr/>
          <p:nvPr/>
        </p:nvSpPr>
        <p:spPr>
          <a:xfrm>
            <a:off x="806243" y="937816"/>
            <a:ext cx="8337757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/>
              <a:t>매일 아침 작업 실행 </a:t>
            </a:r>
            <a:r>
              <a:rPr lang="en-US" altLang="ko-KR" sz="1600" dirty="0" smtClean="0"/>
              <a:t>( </a:t>
            </a:r>
            <a:r>
              <a:rPr lang="ko-KR" altLang="en-US" sz="1400" dirty="0" smtClean="0"/>
              <a:t>run_daily_update.bat </a:t>
            </a:r>
            <a:r>
              <a:rPr lang="en-US" altLang="ko-KR" sz="1600" dirty="0" smtClean="0"/>
              <a:t>)</a:t>
            </a:r>
            <a:endParaRPr lang="ko-KR" altLang="en-US" sz="1600" dirty="0"/>
          </a:p>
          <a:p>
            <a:r>
              <a:rPr lang="ko-KR" altLang="en-US" sz="1600" dirty="0"/>
              <a:t>        │</a:t>
            </a:r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Config </a:t>
            </a:r>
            <a:r>
              <a:rPr lang="ko-KR" altLang="en-US" sz="1600" dirty="0" smtClean="0"/>
              <a:t>Load   </a:t>
            </a:r>
            <a:r>
              <a:rPr lang="en-US" altLang="ko-KR" sz="1600" dirty="0" smtClean="0"/>
              <a:t>( </a:t>
            </a:r>
            <a:r>
              <a:rPr lang="en-US" altLang="ko-KR" sz="1400" dirty="0" smtClean="0"/>
              <a:t>"</a:t>
            </a:r>
            <a:r>
              <a:rPr lang="ko-KR" altLang="en-US" sz="1400" dirty="0"/>
              <a:t>오늘 어떻게 실행할 </a:t>
            </a:r>
            <a:r>
              <a:rPr lang="ko-KR" altLang="en-US" sz="1400" dirty="0" smtClean="0"/>
              <a:t>것인가</a:t>
            </a:r>
            <a:r>
              <a:rPr lang="en-US" altLang="ko-KR" sz="1400" dirty="0" smtClean="0"/>
              <a:t>“ </a:t>
            </a:r>
            <a:r>
              <a:rPr lang="ko-KR" altLang="en-US" sz="1400" dirty="0" smtClean="0"/>
              <a:t>에 대해 설정 </a:t>
            </a:r>
            <a:r>
              <a:rPr lang="en-US" altLang="ko-KR" sz="1600" dirty="0" smtClean="0"/>
              <a:t>) </a:t>
            </a:r>
            <a:endParaRPr lang="ko-KR" altLang="en-US" sz="1600" dirty="0"/>
          </a:p>
          <a:p>
            <a:r>
              <a:rPr lang="ko-KR" altLang="en-US" sz="1600" dirty="0"/>
              <a:t>        │</a:t>
            </a:r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Target Update Date </a:t>
            </a:r>
            <a:r>
              <a:rPr lang="ko-KR" altLang="en-US" sz="1600" dirty="0" smtClean="0"/>
              <a:t>결정  </a:t>
            </a:r>
            <a:r>
              <a:rPr lang="en-US" altLang="ko-KR" sz="1400" dirty="0" smtClean="0"/>
              <a:t>( "</a:t>
            </a:r>
            <a:r>
              <a:rPr lang="ko-KR" altLang="en-US" sz="1400" dirty="0"/>
              <a:t>오늘 아침 </a:t>
            </a:r>
            <a:r>
              <a:rPr lang="en-US" altLang="ko-KR" sz="1400" dirty="0"/>
              <a:t>Pipeline</a:t>
            </a:r>
            <a:r>
              <a:rPr lang="ko-KR" altLang="en-US" sz="1400" dirty="0"/>
              <a:t>이 반드시 확보해야 하는 최신 시장 데이터의 기준 </a:t>
            </a:r>
            <a:r>
              <a:rPr lang="ko-KR" altLang="en-US" sz="1400" dirty="0" smtClean="0"/>
              <a:t>날짜</a:t>
            </a:r>
            <a:r>
              <a:rPr lang="en-US" altLang="ko-KR" sz="1400" dirty="0" smtClean="0"/>
              <a:t>“ )</a:t>
            </a:r>
            <a:endParaRPr lang="ko-KR" altLang="en-US" sz="1400" dirty="0"/>
          </a:p>
          <a:p>
            <a:r>
              <a:rPr lang="ko-KR" altLang="en-US" sz="1600" dirty="0"/>
              <a:t>        │</a:t>
            </a:r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전일 KRX OHLCV </a:t>
            </a:r>
            <a:r>
              <a:rPr lang="ko-KR" altLang="en-US" sz="1600" dirty="0" smtClean="0"/>
              <a:t>다운로드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/>
              <a:t>한국 주식 </a:t>
            </a:r>
            <a:r>
              <a:rPr lang="en-US" altLang="ko-KR" sz="1400" dirty="0"/>
              <a:t>350</a:t>
            </a:r>
            <a:r>
              <a:rPr lang="ko-KR" altLang="en-US" sz="1400" dirty="0"/>
              <a:t>개 종목의 </a:t>
            </a:r>
            <a:r>
              <a:rPr lang="ko-KR" altLang="en-US" sz="1400" b="1" dirty="0"/>
              <a:t>전날 가격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거래량 데이터</a:t>
            </a:r>
            <a:r>
              <a:rPr lang="ko-KR" altLang="en-US" sz="1400" dirty="0"/>
              <a:t>를 가져오는 </a:t>
            </a:r>
            <a:r>
              <a:rPr lang="ko-KR" altLang="en-US" sz="1400" dirty="0" smtClean="0"/>
              <a:t>단계 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r>
              <a:rPr lang="ko-KR" altLang="en-US" sz="1600" dirty="0"/>
              <a:t>(pykrx per-ticker</a:t>
            </a:r>
            <a:r>
              <a:rPr lang="ko-KR" altLang="en-US" sz="1600" dirty="0" smtClean="0"/>
              <a:t>)</a:t>
            </a:r>
            <a:r>
              <a:rPr lang="en-US" altLang="ko-KR" sz="1600" dirty="0" smtClean="0"/>
              <a:t>		</a:t>
            </a:r>
            <a:r>
              <a:rPr lang="en-US" altLang="ko-KR" sz="1400" dirty="0" smtClean="0"/>
              <a:t>( pykrx </a:t>
            </a:r>
            <a:r>
              <a:rPr lang="ko-KR" altLang="en-US" sz="1400" dirty="0" smtClean="0"/>
              <a:t>에서 종목별로 가져옴 </a:t>
            </a:r>
            <a:r>
              <a:rPr lang="en-US" altLang="ko-KR" sz="1400" dirty="0" smtClean="0"/>
              <a:t>) </a:t>
            </a:r>
            <a:endParaRPr lang="ko-KR" altLang="en-US" sz="1400" dirty="0"/>
          </a:p>
          <a:p>
            <a:r>
              <a:rPr lang="ko-KR" altLang="en-US" sz="1600" dirty="0"/>
              <a:t>        │</a:t>
            </a:r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Macro Data </a:t>
            </a:r>
            <a:r>
              <a:rPr lang="ko-KR" altLang="en-US" sz="1600" dirty="0" smtClean="0"/>
              <a:t>Update </a:t>
            </a:r>
            <a:r>
              <a:rPr lang="en-US" altLang="ko-KR" sz="1600" dirty="0" smtClean="0"/>
              <a:t>		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거시지표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NASDAQ </a:t>
            </a:r>
            <a:r>
              <a:rPr lang="en-US" altLang="ko-KR" sz="1400" dirty="0"/>
              <a:t>/ </a:t>
            </a:r>
            <a:r>
              <a:rPr lang="ko-KR" altLang="en-US" sz="1400" dirty="0"/>
              <a:t>S&amp;P500 </a:t>
            </a:r>
            <a:r>
              <a:rPr lang="en-US" altLang="ko-KR" sz="1400" dirty="0"/>
              <a:t>/ </a:t>
            </a:r>
            <a:r>
              <a:rPr lang="ko-KR" altLang="en-US" sz="1400" dirty="0"/>
              <a:t>VIX </a:t>
            </a:r>
            <a:r>
              <a:rPr lang="en-US" altLang="ko-KR" sz="1400" dirty="0"/>
              <a:t>/ </a:t>
            </a:r>
            <a:r>
              <a:rPr lang="ko-KR" altLang="en-US" sz="1400" dirty="0"/>
              <a:t>WTI  </a:t>
            </a:r>
            <a:r>
              <a:rPr lang="en-US" altLang="ko-KR" sz="1400" dirty="0"/>
              <a:t>/ </a:t>
            </a:r>
            <a:r>
              <a:rPr lang="ko-KR" altLang="en-US" sz="1400" dirty="0" smtClean="0"/>
              <a:t>USD/KRW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를 가져오는 단계 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smtClean="0"/>
              <a:t>				(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yfinance </a:t>
            </a:r>
            <a:r>
              <a:rPr lang="ko-KR" altLang="en-US" sz="1400" dirty="0" smtClean="0"/>
              <a:t>에서 가져옴 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r>
              <a:rPr lang="ko-KR" altLang="en-US" sz="1600" dirty="0"/>
              <a:t>        │</a:t>
            </a:r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Feature Source Completeness </a:t>
            </a:r>
            <a:r>
              <a:rPr lang="ko-KR" altLang="en-US" sz="1600" dirty="0" smtClean="0"/>
              <a:t>Check </a:t>
            </a:r>
            <a:endParaRPr lang="en-US" altLang="ko-KR" sz="1600" dirty="0" smtClean="0"/>
          </a:p>
          <a:p>
            <a:r>
              <a:rPr lang="ko-KR" altLang="en-US" sz="1600" dirty="0" smtClean="0"/>
              <a:t> </a:t>
            </a:r>
            <a:r>
              <a:rPr lang="en-US" altLang="ko-KR" sz="1400" dirty="0" smtClean="0"/>
              <a:t>(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모델이 </a:t>
            </a:r>
            <a:r>
              <a:rPr lang="ko-KR" altLang="en-US" sz="1400" b="1" dirty="0" smtClean="0"/>
              <a:t>학습하기 전에 </a:t>
            </a:r>
            <a:r>
              <a:rPr lang="ko-KR" altLang="en-US" sz="1400" b="1" dirty="0"/>
              <a:t>모든 </a:t>
            </a:r>
            <a:r>
              <a:rPr lang="en-US" altLang="ko-KR" sz="1400" b="1" dirty="0"/>
              <a:t>Feature</a:t>
            </a:r>
            <a:r>
              <a:rPr lang="ko-KR" altLang="en-US" sz="1400" b="1" dirty="0"/>
              <a:t>가 동일한 최신 날짜의 데이터인지 확인하는 단계</a:t>
            </a:r>
            <a:r>
              <a:rPr lang="en-US" altLang="ko-KR" sz="1400" b="1" dirty="0"/>
              <a:t>"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)</a:t>
            </a:r>
            <a:endParaRPr lang="ko-KR" altLang="en-US" sz="1400" dirty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</a:t>
            </a:r>
            <a:r>
              <a:rPr lang="ko-KR" altLang="en-US" sz="1600" dirty="0" smtClean="0"/>
              <a:t>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PASS → 다음 </a:t>
            </a:r>
            <a:r>
              <a:rPr lang="ko-KR" altLang="en-US" sz="1600" dirty="0" smtClean="0"/>
              <a:t>단계</a:t>
            </a:r>
            <a:endParaRPr lang="ko-KR" altLang="en-US" sz="1600" dirty="0"/>
          </a:p>
          <a:p>
            <a:r>
              <a:rPr lang="ko-KR" altLang="en-US" sz="1600" dirty="0"/>
              <a:t>FAIL </a:t>
            </a:r>
            <a:r>
              <a:rPr lang="ko-KR" altLang="en-US" sz="1600" dirty="0" smtClean="0"/>
              <a:t> → </a:t>
            </a:r>
            <a:r>
              <a:rPr lang="ko-KR" altLang="en-US" sz="1600" dirty="0"/>
              <a:t>Pipeline </a:t>
            </a:r>
            <a:r>
              <a:rPr lang="ko-KR" altLang="en-US" sz="1600" dirty="0" smtClean="0"/>
              <a:t>종료  (</a:t>
            </a:r>
            <a:r>
              <a:rPr lang="ko-KR" altLang="en-US" sz="1600" dirty="0"/>
              <a:t>Top10 생성 </a:t>
            </a:r>
            <a:r>
              <a:rPr lang="ko-KR" altLang="en-US" sz="1600" dirty="0" smtClean="0"/>
              <a:t>안 함</a:t>
            </a:r>
            <a:r>
              <a:rPr lang="ko-KR" altLang="en-US" sz="16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40657" y="885263"/>
            <a:ext cx="7846143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Feature </a:t>
            </a:r>
            <a:r>
              <a:rPr lang="ko-KR" altLang="en-US" sz="1600" dirty="0" smtClean="0"/>
              <a:t>생성 </a:t>
            </a:r>
            <a:r>
              <a:rPr lang="en-US" altLang="ko-KR" sz="1400" dirty="0">
                <a:latin typeface="+mn-ea"/>
              </a:rPr>
              <a:t>("</a:t>
            </a:r>
            <a:r>
              <a:rPr lang="ko-KR" altLang="en-US" sz="1400" dirty="0">
                <a:latin typeface="+mn-ea"/>
              </a:rPr>
              <a:t>원시 데이터</a:t>
            </a:r>
            <a:r>
              <a:rPr lang="en-US" altLang="ko-KR" sz="1400" dirty="0">
                <a:latin typeface="+mn-ea"/>
              </a:rPr>
              <a:t>(OHLCV, Macro)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AI </a:t>
            </a:r>
            <a:r>
              <a:rPr lang="ko-KR" altLang="en-US" sz="1400" dirty="0">
                <a:latin typeface="+mn-ea"/>
              </a:rPr>
              <a:t>모델이 학습할 수 </a:t>
            </a:r>
            <a:r>
              <a:rPr lang="ko-KR" altLang="en-US" sz="1400" dirty="0" smtClean="0">
                <a:latin typeface="+mn-ea"/>
              </a:rPr>
              <a:t>있도록 </a:t>
            </a:r>
            <a:r>
              <a:rPr lang="en-US" altLang="ko-KR" sz="1400" dirty="0" smtClean="0">
                <a:latin typeface="+mn-ea"/>
              </a:rPr>
              <a:t>55</a:t>
            </a:r>
            <a:r>
              <a:rPr lang="ko-KR" altLang="en-US" sz="1400" dirty="0" smtClean="0">
                <a:latin typeface="+mn-ea"/>
              </a:rPr>
              <a:t>개로 변환</a:t>
            </a:r>
            <a:r>
              <a:rPr lang="en-US" altLang="ko-KR" sz="1400" dirty="0" smtClean="0">
                <a:latin typeface="+mn-ea"/>
              </a:rPr>
              <a:t>“)</a:t>
            </a:r>
          </a:p>
          <a:p>
            <a:r>
              <a:rPr lang="en-US" altLang="ko-KR" sz="1400" dirty="0">
                <a:latin typeface="+mn-ea"/>
              </a:rPr>
              <a:t>	</a:t>
            </a:r>
            <a:r>
              <a:rPr lang="en-US" altLang="ko-KR" sz="1400" dirty="0" smtClean="0">
                <a:latin typeface="+mn-ea"/>
              </a:rPr>
              <a:t>	    ( </a:t>
            </a:r>
            <a:r>
              <a:rPr lang="ko-KR" altLang="en-US" sz="1400" dirty="0" smtClean="0">
                <a:latin typeface="+mn-ea"/>
              </a:rPr>
              <a:t>시가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고가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저가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종가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거래량 </a:t>
            </a:r>
            <a:r>
              <a:rPr lang="en-US" altLang="ko-KR" sz="1400" dirty="0" smtClean="0">
                <a:latin typeface="+mn-ea"/>
              </a:rPr>
              <a:t>-&gt; 1</a:t>
            </a:r>
            <a:r>
              <a:rPr lang="ko-KR" altLang="en-US" sz="1400" dirty="0" smtClean="0">
                <a:latin typeface="+mn-ea"/>
              </a:rPr>
              <a:t>일 수익률</a:t>
            </a:r>
            <a:r>
              <a:rPr lang="en-US" altLang="ko-KR" sz="1400" dirty="0" smtClean="0">
                <a:latin typeface="+mn-ea"/>
              </a:rPr>
              <a:t>, 5</a:t>
            </a:r>
            <a:r>
              <a:rPr lang="ko-KR" altLang="en-US" sz="1400" dirty="0" smtClean="0">
                <a:latin typeface="+mn-ea"/>
              </a:rPr>
              <a:t>일 수익률</a:t>
            </a:r>
            <a:r>
              <a:rPr lang="en-US" altLang="ko-KR" sz="1400" dirty="0" smtClean="0">
                <a:latin typeface="+mn-ea"/>
              </a:rPr>
              <a:t>, 20</a:t>
            </a:r>
            <a:r>
              <a:rPr lang="ko-KR" altLang="en-US" sz="1400" dirty="0" smtClean="0">
                <a:latin typeface="+mn-ea"/>
              </a:rPr>
              <a:t>일변동성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등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	</a:t>
            </a:r>
            <a:endParaRPr lang="ko-KR" altLang="en-US" sz="1400" dirty="0">
              <a:latin typeface="+mn-ea"/>
            </a:endParaRPr>
          </a:p>
          <a:p>
            <a:r>
              <a:rPr lang="ko-KR" altLang="en-US" sz="1600" dirty="0"/>
              <a:t>        </a:t>
            </a:r>
            <a:r>
              <a:rPr lang="ko-KR" altLang="en-US" sz="1600" dirty="0" smtClean="0"/>
              <a:t> 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Training Dataset </a:t>
            </a:r>
            <a:r>
              <a:rPr lang="ko-KR" altLang="en-US" sz="1600" dirty="0" smtClean="0"/>
              <a:t>Update </a:t>
            </a:r>
            <a:r>
              <a:rPr lang="en-US" altLang="ko-KR" sz="1400" dirty="0" smtClean="0">
                <a:latin typeface="+mn-ea"/>
              </a:rPr>
              <a:t>( "Feature</a:t>
            </a:r>
            <a:r>
              <a:rPr lang="ko-KR" altLang="en-US" sz="1400" dirty="0">
                <a:latin typeface="+mn-ea"/>
              </a:rPr>
              <a:t>와 </a:t>
            </a:r>
            <a:r>
              <a:rPr lang="en-US" altLang="ko-KR" sz="1400" dirty="0" smtClean="0">
                <a:latin typeface="+mn-ea"/>
              </a:rPr>
              <a:t>Target</a:t>
            </a:r>
            <a:r>
              <a:rPr lang="ko-KR" altLang="en-US" sz="1400" dirty="0" smtClean="0">
                <a:latin typeface="+mn-ea"/>
              </a:rPr>
              <a:t>을 결합해 학습용 </a:t>
            </a:r>
            <a:r>
              <a:rPr lang="ko-KR" altLang="en-US" sz="1400" dirty="0" err="1">
                <a:latin typeface="+mn-ea"/>
              </a:rPr>
              <a:t>데이터셋을</a:t>
            </a:r>
            <a:r>
              <a:rPr lang="ko-KR" altLang="en-US" sz="1400" dirty="0">
                <a:latin typeface="+mn-ea"/>
              </a:rPr>
              <a:t> 생성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갱신하는 단계</a:t>
            </a:r>
            <a:r>
              <a:rPr lang="en-US" altLang="ko-KR" sz="1400" dirty="0" smtClean="0">
                <a:latin typeface="+mn-ea"/>
              </a:rPr>
              <a:t>")</a:t>
            </a:r>
            <a:endParaRPr lang="ko-KR" altLang="en-US" sz="1400" dirty="0">
              <a:latin typeface="+mn-ea"/>
            </a:endParaRPr>
          </a:p>
          <a:p>
            <a:r>
              <a:rPr lang="ko-KR" altLang="en-US" sz="1600" dirty="0"/>
              <a:t>        </a:t>
            </a:r>
            <a:r>
              <a:rPr lang="ko-KR" altLang="en-US" sz="1600" dirty="0" smtClean="0"/>
              <a:t> 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 smtClean="0"/>
              <a:t>Rolling Window </a:t>
            </a:r>
            <a:r>
              <a:rPr lang="en-US" altLang="ko-KR" sz="1600" dirty="0" smtClean="0"/>
              <a:t>data</a:t>
            </a:r>
            <a:r>
              <a:rPr lang="en-US" altLang="ko-KR" sz="1400" dirty="0" smtClean="0">
                <a:latin typeface="+mn-ea"/>
              </a:rPr>
              <a:t>( </a:t>
            </a:r>
            <a:r>
              <a:rPr lang="ko-KR" altLang="en-US" sz="1400" dirty="0" smtClean="0">
                <a:latin typeface="+mn-ea"/>
              </a:rPr>
              <a:t>최근 </a:t>
            </a:r>
            <a:r>
              <a:rPr lang="en-US" altLang="ko-KR" sz="1400" dirty="0">
                <a:latin typeface="+mn-ea"/>
              </a:rPr>
              <a:t>3</a:t>
            </a:r>
            <a:r>
              <a:rPr lang="en-US" altLang="ko-KR" sz="1400" dirty="0" smtClean="0">
                <a:latin typeface="+mn-ea"/>
              </a:rPr>
              <a:t>50</a:t>
            </a:r>
            <a:r>
              <a:rPr lang="ko-KR" altLang="en-US" sz="1400" dirty="0" smtClean="0">
                <a:latin typeface="+mn-ea"/>
              </a:rPr>
              <a:t>영업일</a:t>
            </a:r>
            <a:r>
              <a:rPr lang="en-US" altLang="ko-KR" sz="1400" dirty="0" smtClean="0">
                <a:latin typeface="+mn-ea"/>
              </a:rPr>
              <a:t>, 350</a:t>
            </a:r>
            <a:r>
              <a:rPr lang="ko-KR" altLang="en-US" sz="1400" dirty="0" smtClean="0">
                <a:latin typeface="+mn-ea"/>
              </a:rPr>
              <a:t>종목</a:t>
            </a:r>
            <a:r>
              <a:rPr lang="en-US" altLang="ko-KR" sz="1400" dirty="0" smtClean="0">
                <a:latin typeface="+mn-ea"/>
              </a:rPr>
              <a:t>,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55</a:t>
            </a:r>
            <a:r>
              <a:rPr lang="ko-KR" altLang="en-US" sz="1400" dirty="0" smtClean="0">
                <a:latin typeface="+mn-ea"/>
              </a:rPr>
              <a:t>개 </a:t>
            </a:r>
            <a:r>
              <a:rPr lang="en-US" altLang="ko-KR" sz="1400" dirty="0" smtClean="0">
                <a:latin typeface="+mn-ea"/>
              </a:rPr>
              <a:t>feature</a:t>
            </a:r>
            <a:r>
              <a:rPr lang="ko-KR" altLang="en-US" sz="1400" dirty="0" smtClean="0">
                <a:latin typeface="+mn-ea"/>
              </a:rPr>
              <a:t>로 </a:t>
            </a:r>
            <a:r>
              <a:rPr lang="en-US" altLang="ko-KR" sz="1400" dirty="0" smtClean="0">
                <a:latin typeface="+mn-ea"/>
              </a:rPr>
              <a:t>"</a:t>
            </a:r>
            <a:r>
              <a:rPr lang="en-US" altLang="ko-KR" sz="1400" dirty="0">
                <a:latin typeface="+mn-ea"/>
              </a:rPr>
              <a:t>train</a:t>
            </a:r>
            <a:r>
              <a:rPr lang="ko-KR" altLang="en-US" sz="1400" dirty="0">
                <a:latin typeface="+mn-ea"/>
              </a:rPr>
              <a:t>용 </a:t>
            </a:r>
            <a:r>
              <a:rPr lang="en-US" altLang="ko-KR" sz="1400" dirty="0">
                <a:latin typeface="+mn-ea"/>
              </a:rPr>
              <a:t>dataset"</a:t>
            </a:r>
            <a:r>
              <a:rPr lang="ko-KR" altLang="en-US" sz="1400" dirty="0">
                <a:latin typeface="+mn-ea"/>
              </a:rPr>
              <a:t>을 </a:t>
            </a:r>
            <a:r>
              <a:rPr lang="ko-KR" altLang="en-US" sz="1400" dirty="0" smtClean="0">
                <a:latin typeface="+mn-ea"/>
              </a:rPr>
              <a:t>준비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) 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 smtClean="0"/>
              <a:t>        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LightGBM Model </a:t>
            </a:r>
            <a:r>
              <a:rPr lang="ko-KR" altLang="en-US" sz="1600" dirty="0" smtClean="0"/>
              <a:t>Retrain 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위 </a:t>
            </a:r>
            <a:r>
              <a:rPr lang="en-US" altLang="ko-KR" sz="1400" dirty="0" smtClean="0"/>
              <a:t>Data</a:t>
            </a:r>
            <a:r>
              <a:rPr lang="ko-KR" altLang="en-US" sz="1400" dirty="0" smtClean="0"/>
              <a:t>로</a:t>
            </a:r>
            <a:r>
              <a:rPr lang="en-US" altLang="ko-KR" sz="1400" dirty="0" smtClean="0"/>
              <a:t> 3</a:t>
            </a:r>
            <a:r>
              <a:rPr lang="ko-KR" altLang="en-US" sz="1400" dirty="0" smtClean="0"/>
              <a:t>개의 모델</a:t>
            </a:r>
            <a:r>
              <a:rPr lang="en-US" altLang="ko-KR" sz="1400" dirty="0"/>
              <a:t> ( </a:t>
            </a:r>
            <a:r>
              <a:rPr lang="ko-KR" altLang="en-US" sz="1400" dirty="0"/>
              <a:t>Ranking </a:t>
            </a:r>
            <a:r>
              <a:rPr lang="en-US" altLang="ko-KR" sz="1400" dirty="0"/>
              <a:t>/ </a:t>
            </a:r>
            <a:r>
              <a:rPr lang="ko-KR" altLang="en-US" sz="1400" dirty="0"/>
              <a:t>Gap </a:t>
            </a:r>
            <a:r>
              <a:rPr lang="en-US" altLang="ko-KR" sz="1400" dirty="0"/>
              <a:t>/ </a:t>
            </a:r>
            <a:r>
              <a:rPr lang="ko-KR" altLang="en-US" sz="1400" dirty="0"/>
              <a:t>Intraday </a:t>
            </a:r>
            <a:r>
              <a:rPr lang="en-US" altLang="ko-KR" sz="1400" dirty="0" smtClean="0"/>
              <a:t>) Train</a:t>
            </a:r>
            <a:r>
              <a:rPr lang="ko-KR" altLang="en-US" sz="1400" dirty="0" smtClean="0"/>
              <a:t>실시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매일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회 </a:t>
            </a:r>
            <a:r>
              <a:rPr lang="en-US" altLang="ko-KR" sz="1400" dirty="0" smtClean="0"/>
              <a:t>)</a:t>
            </a:r>
            <a:endParaRPr lang="ko-KR" altLang="en-US" sz="1600" dirty="0"/>
          </a:p>
          <a:p>
            <a:r>
              <a:rPr lang="ko-KR" altLang="en-US" sz="1600" dirty="0"/>
              <a:t>        </a:t>
            </a:r>
            <a:r>
              <a:rPr lang="ko-KR" altLang="en-US" sz="1600" dirty="0" smtClean="0"/>
              <a:t> 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350개 종목 </a:t>
            </a:r>
            <a:r>
              <a:rPr lang="ko-KR" altLang="en-US" sz="1600" dirty="0" smtClean="0"/>
              <a:t>Prediction </a:t>
            </a:r>
            <a:r>
              <a:rPr lang="en-US" altLang="ko-KR" sz="1400" dirty="0"/>
              <a:t>(</a:t>
            </a:r>
            <a:r>
              <a:rPr lang="en-US" altLang="ko-KR" sz="1400" dirty="0" smtClean="0"/>
              <a:t>Ranking </a:t>
            </a:r>
            <a:r>
              <a:rPr lang="ko-KR" altLang="en-US" sz="1400" dirty="0" smtClean="0"/>
              <a:t>모델</a:t>
            </a:r>
            <a:r>
              <a:rPr lang="en-US" altLang="ko-KR" sz="1400" dirty="0" smtClean="0"/>
              <a:t>, Gap</a:t>
            </a:r>
            <a:r>
              <a:rPr lang="ko-KR" altLang="en-US" sz="1400" dirty="0" smtClean="0"/>
              <a:t>모델</a:t>
            </a:r>
            <a:r>
              <a:rPr lang="en-US" altLang="ko-KR" sz="1400" dirty="0" smtClean="0"/>
              <a:t>, Intraday</a:t>
            </a:r>
            <a:r>
              <a:rPr lang="ko-KR" altLang="en-US" sz="1400" dirty="0" smtClean="0"/>
              <a:t>모델을 이용해 </a:t>
            </a:r>
            <a:endParaRPr lang="en-US" altLang="ko-KR" sz="1400" dirty="0" smtClean="0"/>
          </a:p>
          <a:p>
            <a:r>
              <a:rPr lang="en-US" altLang="ko-KR" sz="1400" dirty="0"/>
              <a:t>	</a:t>
            </a:r>
            <a:r>
              <a:rPr lang="en-US" altLang="ko-KR" sz="1400" dirty="0" smtClean="0"/>
              <a:t>			   </a:t>
            </a:r>
            <a:r>
              <a:rPr lang="ko-KR" altLang="en-US" sz="1400" dirty="0" smtClean="0"/>
              <a:t>아래의 값들을 종목별로  구함</a:t>
            </a:r>
            <a:r>
              <a:rPr lang="en-US" altLang="ko-KR" sz="1400" dirty="0" smtClean="0"/>
              <a:t>) </a:t>
            </a:r>
          </a:p>
          <a:p>
            <a:r>
              <a:rPr lang="en-US" altLang="ko-KR" sz="1300" dirty="0"/>
              <a:t>				</a:t>
            </a:r>
            <a:r>
              <a:rPr lang="en-US" altLang="ko-KR" sz="1300" dirty="0" smtClean="0"/>
              <a:t>   </a:t>
            </a:r>
            <a:r>
              <a:rPr lang="en-US" altLang="ko-KR" sz="1300" dirty="0"/>
              <a:t>Ranking Score </a:t>
            </a:r>
            <a:r>
              <a:rPr lang="en-US" altLang="ko-KR" sz="1300" dirty="0" smtClean="0"/>
              <a:t> </a:t>
            </a:r>
            <a:r>
              <a:rPr lang="en-US" altLang="ko-KR" sz="1300" dirty="0"/>
              <a:t>: </a:t>
            </a:r>
            <a:r>
              <a:rPr lang="en-US" altLang="ko-KR" sz="1300" dirty="0" smtClean="0"/>
              <a:t> </a:t>
            </a:r>
            <a:r>
              <a:rPr lang="ko-KR" altLang="en-US" sz="1300" dirty="0" smtClean="0"/>
              <a:t>전일종가 대비 당일종가 수익률 </a:t>
            </a:r>
            <a:r>
              <a:rPr lang="en-US" altLang="ko-KR" sz="1300" dirty="0" smtClean="0"/>
              <a:t>(= </a:t>
            </a:r>
            <a:r>
              <a:rPr lang="en-US" altLang="ko-KR" sz="1300" dirty="0"/>
              <a:t>target_close / prev_close </a:t>
            </a:r>
            <a:r>
              <a:rPr lang="en-US" altLang="ko-KR" sz="1300" dirty="0" smtClean="0"/>
              <a:t>– 1) </a:t>
            </a:r>
            <a:r>
              <a:rPr lang="en-US" altLang="ko-KR" sz="1300" dirty="0"/>
              <a:t>	</a:t>
            </a:r>
            <a:r>
              <a:rPr lang="en-US" altLang="ko-KR" sz="1300" dirty="0" smtClean="0"/>
              <a:t>			   Gap Return       :  </a:t>
            </a:r>
            <a:r>
              <a:rPr lang="ko-KR" altLang="en-US" sz="1300" dirty="0" smtClean="0"/>
              <a:t>전일 종가 대비 당일 시가 사이의 수익률</a:t>
            </a:r>
            <a:endParaRPr lang="en-US" altLang="ko-KR" sz="1300" dirty="0" smtClean="0"/>
          </a:p>
          <a:p>
            <a:r>
              <a:rPr lang="en-US" altLang="ko-KR" sz="1300" dirty="0" smtClean="0"/>
              <a:t>          </a:t>
            </a:r>
            <a:r>
              <a:rPr lang="ko-KR" altLang="en-US" sz="1300" dirty="0" smtClean="0"/>
              <a:t> </a:t>
            </a:r>
            <a:r>
              <a:rPr lang="en-US" altLang="ko-KR" sz="1300" dirty="0" smtClean="0">
                <a:latin typeface="+mn-ea"/>
              </a:rPr>
              <a:t>|</a:t>
            </a:r>
            <a:r>
              <a:rPr lang="en-US" altLang="ko-KR" sz="1300" dirty="0" smtClean="0"/>
              <a:t>			   Intraday return : </a:t>
            </a:r>
            <a:r>
              <a:rPr lang="ko-KR" altLang="en-US" sz="1300" dirty="0" smtClean="0"/>
              <a:t> 당일시가 대비 당일 종가 사이의 수익률</a:t>
            </a:r>
            <a:endParaRPr lang="ko-KR" altLang="en-US" sz="13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Top10 Excel / CSV 생성</a:t>
            </a:r>
          </a:p>
          <a:p>
            <a:r>
              <a:rPr lang="ko-KR" altLang="en-US" sz="1600" dirty="0"/>
              <a:t>        </a:t>
            </a:r>
            <a:r>
              <a:rPr lang="ko-KR" altLang="en-US" sz="1600" dirty="0" smtClean="0"/>
              <a:t> │</a:t>
            </a:r>
            <a:endParaRPr lang="ko-KR" altLang="en-US" sz="1600" dirty="0"/>
          </a:p>
          <a:p>
            <a:r>
              <a:rPr lang="ko-KR" altLang="en-US" sz="1600" dirty="0"/>
              <a:t>        ▼</a:t>
            </a:r>
          </a:p>
          <a:p>
            <a:r>
              <a:rPr lang="ko-KR" altLang="en-US" sz="1600" dirty="0"/>
              <a:t>Daily Archive </a:t>
            </a:r>
            <a:r>
              <a:rPr lang="ko-KR" altLang="en-US" sz="1600" dirty="0" smtClean="0"/>
              <a:t>생성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Top10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Predictions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Models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Rolling </a:t>
            </a:r>
            <a:r>
              <a:rPr lang="ko-KR" altLang="en-US" sz="1600" dirty="0"/>
              <a:t>Train Dataset</a:t>
            </a:r>
          </a:p>
          <a:p>
            <a:r>
              <a:rPr lang="ko-KR" altLang="en-US" sz="1600" dirty="0" smtClean="0"/>
              <a:t>Status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Metadata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SHA256 </a:t>
            </a:r>
            <a:r>
              <a:rPr lang="ko-KR" altLang="en-US" sz="1600" dirty="0"/>
              <a:t>Audit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20994" y="839493"/>
            <a:ext cx="2620297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Run </a:t>
            </a:r>
            <a:r>
              <a:rPr lang="en-US" altLang="ko-KR" sz="1200" dirty="0"/>
              <a:t>Date : 2026-06-17 08:30</a:t>
            </a:r>
            <a:br>
              <a:rPr lang="en-US" altLang="ko-KR" sz="1200" dirty="0"/>
            </a:br>
            <a:r>
              <a:rPr lang="en-US" altLang="ko-KR" sz="1200" dirty="0"/>
              <a:t>Prediction Date : 2026-06-17</a:t>
            </a:r>
            <a:br>
              <a:rPr lang="en-US" altLang="ko-KR" sz="1200" dirty="0"/>
            </a:br>
            <a:r>
              <a:rPr lang="en-US" altLang="ko-KR" sz="1200" dirty="0"/>
              <a:t>Target Update Date : 2026-06-16</a:t>
            </a:r>
            <a:endParaRPr lang="ko-KR" altLang="en-US" sz="1200" dirty="0"/>
          </a:p>
          <a:p>
            <a:endParaRPr lang="en-US" altLang="ko-KR" sz="1200" dirty="0" smtClean="0"/>
          </a:p>
          <a:p>
            <a:r>
              <a:rPr lang="en-US" altLang="ko-KR" b="1" dirty="0" smtClean="0">
                <a:latin typeface="+mn-ea"/>
              </a:rPr>
              <a:t>Train </a:t>
            </a:r>
            <a:r>
              <a:rPr lang="ko-KR" altLang="en-US" b="1" dirty="0" smtClean="0">
                <a:latin typeface="+mn-ea"/>
              </a:rPr>
              <a:t>단계</a:t>
            </a:r>
            <a:endParaRPr lang="en-US" altLang="ko-KR" b="1" dirty="0">
              <a:latin typeface="+mn-ea"/>
            </a:endParaRPr>
          </a:p>
          <a:p>
            <a:endParaRPr lang="ko-KR" altLang="en-US" sz="1200" dirty="0"/>
          </a:p>
          <a:p>
            <a:r>
              <a:rPr lang="ko-KR" altLang="en-US" sz="1200" dirty="0"/>
              <a:t>Feature                Target</a:t>
            </a:r>
          </a:p>
          <a:p>
            <a:endParaRPr lang="ko-KR" altLang="en-US" sz="1200" dirty="0"/>
          </a:p>
          <a:p>
            <a:r>
              <a:rPr lang="ko-KR" altLang="en-US" sz="1200" dirty="0"/>
              <a:t>6/03  -------------&gt;   6/04</a:t>
            </a:r>
          </a:p>
          <a:p>
            <a:r>
              <a:rPr lang="ko-KR" altLang="en-US" sz="1200" dirty="0"/>
              <a:t>6/04  -------------&gt;   6/05</a:t>
            </a:r>
          </a:p>
          <a:p>
            <a:r>
              <a:rPr lang="ko-KR" altLang="en-US" sz="1200" dirty="0"/>
              <a:t>...</a:t>
            </a:r>
          </a:p>
          <a:p>
            <a:r>
              <a:rPr lang="ko-KR" altLang="en-US" sz="1200" dirty="0"/>
              <a:t>6/14  -------------&gt;   6/15</a:t>
            </a:r>
          </a:p>
          <a:p>
            <a:r>
              <a:rPr lang="ko-KR" altLang="en-US" sz="1200" dirty="0"/>
              <a:t>6/15  -------------&gt;   6/16</a:t>
            </a:r>
          </a:p>
          <a:p>
            <a:endParaRPr lang="ko-KR" altLang="en-US" sz="1200" dirty="0"/>
          </a:p>
          <a:p>
            <a:r>
              <a:rPr lang="ko-KR" altLang="en-US" sz="1200" dirty="0"/>
              <a:t>(최근 </a:t>
            </a:r>
            <a:r>
              <a:rPr lang="en-US" altLang="ko-KR" sz="1200" dirty="0"/>
              <a:t>3</a:t>
            </a:r>
            <a:r>
              <a:rPr lang="ko-KR" altLang="en-US" sz="1200" dirty="0" smtClean="0"/>
              <a:t>50 </a:t>
            </a:r>
            <a:r>
              <a:rPr lang="ko-KR" altLang="en-US" sz="1200" dirty="0"/>
              <a:t>Trading Days</a:t>
            </a:r>
            <a:r>
              <a:rPr lang="ko-KR" altLang="en-US" sz="1200" dirty="0" smtClean="0"/>
              <a:t>)</a:t>
            </a:r>
            <a:endParaRPr lang="ko-KR" altLang="en-US" sz="1200" dirty="0"/>
          </a:p>
          <a:p>
            <a:r>
              <a:rPr lang="ko-KR" altLang="en-US" sz="1200" dirty="0"/>
              <a:t>          </a:t>
            </a:r>
            <a:r>
              <a:rPr lang="ko-KR" altLang="en-US" sz="1200" dirty="0" smtClean="0"/>
              <a:t> │</a:t>
            </a:r>
            <a:endParaRPr lang="ko-KR" altLang="en-US" sz="1200" dirty="0"/>
          </a:p>
          <a:p>
            <a:r>
              <a:rPr lang="ko-KR" altLang="en-US" sz="1200" dirty="0"/>
              <a:t>          </a:t>
            </a:r>
            <a:r>
              <a:rPr lang="ko-KR" altLang="en-US" sz="1200" dirty="0" smtClean="0"/>
              <a:t>▼</a:t>
            </a:r>
            <a:endParaRPr lang="ko-KR" altLang="en-US" sz="1200" dirty="0"/>
          </a:p>
          <a:p>
            <a:r>
              <a:rPr lang="ko-KR" altLang="en-US" sz="1200" dirty="0" smtClean="0"/>
              <a:t> </a:t>
            </a:r>
            <a:r>
              <a:rPr lang="ko-KR" altLang="en-US" sz="1200" dirty="0"/>
              <a:t>LightGBM </a:t>
            </a:r>
            <a:r>
              <a:rPr lang="ko-KR" altLang="en-US" sz="1200" dirty="0" smtClean="0"/>
              <a:t>Train</a:t>
            </a:r>
            <a:endParaRPr lang="ko-KR" altLang="en-US" sz="1200" dirty="0"/>
          </a:p>
          <a:p>
            <a:r>
              <a:rPr lang="ko-KR" altLang="en-US" sz="1200" dirty="0"/>
              <a:t>          </a:t>
            </a:r>
            <a:r>
              <a:rPr lang="ko-KR" altLang="en-US" sz="1200" dirty="0" smtClean="0"/>
              <a:t> │</a:t>
            </a:r>
            <a:endParaRPr lang="ko-KR" altLang="en-US" sz="1200" dirty="0"/>
          </a:p>
          <a:p>
            <a:r>
              <a:rPr lang="ko-KR" altLang="en-US" sz="1200" dirty="0"/>
              <a:t>          ▼</a:t>
            </a:r>
          </a:p>
          <a:p>
            <a:endParaRPr lang="ko-KR" altLang="en-US" sz="1200" dirty="0"/>
          </a:p>
          <a:p>
            <a:r>
              <a:rPr lang="ko-KR" altLang="en-US" b="1" dirty="0" smtClean="0"/>
              <a:t>Prediction 단계</a:t>
            </a:r>
            <a:endParaRPr lang="ko-KR" altLang="en-US" b="1" dirty="0"/>
          </a:p>
          <a:p>
            <a:endParaRPr lang="ko-KR" altLang="en-US" sz="1200" dirty="0"/>
          </a:p>
          <a:p>
            <a:r>
              <a:rPr lang="ko-KR" altLang="en-US" sz="1200" dirty="0"/>
              <a:t>6/16 Feature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smtClean="0"/>
              <a:t> │</a:t>
            </a:r>
            <a:endParaRPr lang="ko-KR" altLang="en-US" sz="1200" dirty="0"/>
          </a:p>
          <a:p>
            <a:r>
              <a:rPr lang="ko-KR" altLang="en-US" sz="1200" dirty="0"/>
              <a:t>     ▼</a:t>
            </a:r>
          </a:p>
          <a:p>
            <a:r>
              <a:rPr lang="ko-KR" altLang="en-US" sz="1200" dirty="0"/>
              <a:t>Ranking / Gap / Intraday Model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smtClean="0"/>
              <a:t> │</a:t>
            </a:r>
            <a:endParaRPr lang="ko-KR" altLang="en-US" sz="1200" dirty="0"/>
          </a:p>
          <a:p>
            <a:r>
              <a:rPr lang="ko-KR" altLang="en-US" sz="1200" dirty="0"/>
              <a:t>     ▼</a:t>
            </a:r>
          </a:p>
          <a:p>
            <a:r>
              <a:rPr lang="ko-KR" altLang="en-US" sz="1200" dirty="0"/>
              <a:t>2026-06-17 Prediction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42387" y="987622"/>
            <a:ext cx="201561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6</a:t>
            </a:r>
            <a:r>
              <a:rPr lang="ko-KR" altLang="en-US" sz="1200" dirty="0"/>
              <a:t>월</a:t>
            </a:r>
            <a:r>
              <a:rPr lang="en-US" altLang="ko-KR" sz="1200" dirty="0"/>
              <a:t>16</a:t>
            </a:r>
            <a:r>
              <a:rPr lang="ko-KR" altLang="en-US" sz="1200" dirty="0"/>
              <a:t>일 </a:t>
            </a:r>
            <a:r>
              <a:rPr lang="en-US" altLang="ko-KR" sz="1200" dirty="0" smtClean="0"/>
              <a:t>Feature</a:t>
            </a:r>
            <a:endParaRPr lang="en-US" altLang="ko-KR" sz="1200" dirty="0"/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 │</a:t>
            </a:r>
            <a:endParaRPr lang="en-US" altLang="ko-KR" sz="1200" dirty="0"/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▼</a:t>
            </a:r>
            <a:endParaRPr lang="en-US" altLang="ko-KR" sz="1200" dirty="0"/>
          </a:p>
          <a:p>
            <a:r>
              <a:rPr lang="en-US" altLang="ko-KR" sz="1200" dirty="0"/>
              <a:t>Ranking Model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 │</a:t>
            </a:r>
            <a:endParaRPr lang="en-US" altLang="ko-KR" sz="1200" dirty="0"/>
          </a:p>
          <a:p>
            <a:r>
              <a:rPr lang="en-US" altLang="ko-KR" sz="1200" dirty="0"/>
              <a:t>        ├── </a:t>
            </a:r>
            <a:r>
              <a:rPr lang="en-US" altLang="ko-KR" sz="1200" dirty="0" smtClean="0"/>
              <a:t>ranking_score</a:t>
            </a:r>
            <a:endParaRPr lang="en-US" altLang="ko-KR" sz="1200" dirty="0"/>
          </a:p>
          <a:p>
            <a:r>
              <a:rPr lang="en-US" altLang="ko-KR" sz="1200" dirty="0"/>
              <a:t>Gap Model</a:t>
            </a:r>
          </a:p>
          <a:p>
            <a:r>
              <a:rPr lang="en-US" altLang="ko-KR" sz="1200" dirty="0"/>
              <a:t>       </a:t>
            </a:r>
            <a:r>
              <a:rPr lang="en-US" altLang="ko-KR" sz="1200" dirty="0" smtClean="0"/>
              <a:t>  </a:t>
            </a:r>
            <a:r>
              <a:rPr lang="en-US" altLang="ko-KR" sz="1200" dirty="0"/>
              <a:t>│</a:t>
            </a:r>
          </a:p>
          <a:p>
            <a:r>
              <a:rPr lang="en-US" altLang="ko-KR" sz="1200" dirty="0"/>
              <a:t>        ├── </a:t>
            </a:r>
            <a:r>
              <a:rPr lang="en-US" altLang="ko-KR" sz="1200" dirty="0" err="1" smtClean="0"/>
              <a:t>pred_gap</a:t>
            </a:r>
            <a:endParaRPr lang="en-US" altLang="ko-KR" sz="1200" dirty="0"/>
          </a:p>
          <a:p>
            <a:r>
              <a:rPr lang="en-US" altLang="ko-KR" sz="1200" dirty="0"/>
              <a:t>Intraday Model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 │</a:t>
            </a:r>
            <a:endParaRPr lang="en-US" altLang="ko-KR" sz="1200" dirty="0"/>
          </a:p>
          <a:p>
            <a:r>
              <a:rPr lang="en-US" altLang="ko-KR" sz="1200" dirty="0"/>
              <a:t>        ├── </a:t>
            </a:r>
            <a:r>
              <a:rPr lang="en-US" altLang="ko-KR" sz="1200" dirty="0" err="1" smtClean="0"/>
              <a:t>pred_intraday</a:t>
            </a:r>
            <a:endParaRPr lang="en-US" altLang="ko-KR" sz="1200" dirty="0"/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▼</a:t>
            </a:r>
            <a:endParaRPr lang="en-US" altLang="ko-KR" sz="1200" dirty="0"/>
          </a:p>
          <a:p>
            <a:r>
              <a:rPr lang="en-US" altLang="ko-KR" sz="1200" dirty="0" err="1" smtClean="0"/>
              <a:t>expected_return</a:t>
            </a:r>
            <a:endParaRPr lang="en-US" altLang="ko-KR" sz="1200" dirty="0"/>
          </a:p>
          <a:p>
            <a:r>
              <a:rPr lang="en-US" altLang="ko-KR" sz="1200" dirty="0" smtClean="0"/>
              <a:t>=  </a:t>
            </a:r>
            <a:r>
              <a:rPr lang="en-US" altLang="ko-KR" sz="1200" dirty="0" err="1" smtClean="0"/>
              <a:t>pred_gap</a:t>
            </a:r>
            <a:r>
              <a:rPr lang="en-US" altLang="ko-KR" sz="1200" dirty="0" smtClean="0"/>
              <a:t> + </a:t>
            </a:r>
            <a:r>
              <a:rPr lang="en-US" altLang="ko-KR" sz="1200" dirty="0" err="1" smtClean="0"/>
              <a:t>pred_intraday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|</a:t>
            </a:r>
            <a:endParaRPr lang="en-US" altLang="ko-KR" sz="1200" dirty="0"/>
          </a:p>
          <a:p>
            <a:r>
              <a:rPr lang="en-US" altLang="ko-KR" sz="1200" dirty="0"/>
              <a:t>        </a:t>
            </a:r>
            <a:r>
              <a:rPr lang="en-US" altLang="ko-KR" sz="1200" dirty="0" smtClean="0"/>
              <a:t>▼</a:t>
            </a:r>
            <a:endParaRPr lang="en-US" altLang="ko-KR" sz="1200" dirty="0"/>
          </a:p>
          <a:p>
            <a:r>
              <a:rPr lang="en-US" altLang="ko-KR" sz="1200" dirty="0"/>
              <a:t>350</a:t>
            </a:r>
            <a:r>
              <a:rPr lang="ko-KR" altLang="en-US" sz="1200" dirty="0"/>
              <a:t>개 종목 </a:t>
            </a:r>
            <a:r>
              <a:rPr lang="ko-KR" altLang="en-US" sz="1200" dirty="0" smtClean="0"/>
              <a:t>정렬</a:t>
            </a:r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ko-KR" altLang="en-US" sz="1200" dirty="0" smtClean="0"/>
              <a:t>▼</a:t>
            </a:r>
            <a:endParaRPr lang="ko-KR" altLang="en-US" sz="1200" dirty="0"/>
          </a:p>
          <a:p>
            <a:r>
              <a:rPr lang="en-US" altLang="ko-KR" sz="1200" dirty="0"/>
              <a:t>Top10 </a:t>
            </a:r>
            <a:r>
              <a:rPr lang="ko-KR" altLang="en-US" sz="1200" dirty="0"/>
              <a:t>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1291" y="5091765"/>
            <a:ext cx="54863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Top10</a:t>
            </a:r>
            <a:r>
              <a:rPr lang="ko-KR" altLang="en-US" sz="1400" dirty="0" smtClean="0">
                <a:latin typeface="+mn-ea"/>
              </a:rPr>
              <a:t>    </a:t>
            </a:r>
            <a:r>
              <a:rPr lang="en-US" altLang="ko-KR" sz="1400" dirty="0" smtClean="0">
                <a:latin typeface="+mn-ea"/>
              </a:rPr>
              <a:t>:  350 </a:t>
            </a:r>
            <a:r>
              <a:rPr lang="ko-KR" altLang="en-US" sz="1400" dirty="0" smtClean="0">
                <a:latin typeface="+mn-ea"/>
              </a:rPr>
              <a:t>종목의 </a:t>
            </a:r>
            <a:r>
              <a:rPr lang="en-US" altLang="ko-KR" sz="1400" dirty="0" smtClean="0">
                <a:latin typeface="+mn-ea"/>
              </a:rPr>
              <a:t>ranking_score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에서 상위 </a:t>
            </a:r>
            <a:r>
              <a:rPr lang="en-US" altLang="ko-KR" sz="1400" dirty="0">
                <a:latin typeface="+mn-ea"/>
              </a:rPr>
              <a:t>10</a:t>
            </a:r>
            <a:r>
              <a:rPr lang="ko-KR" altLang="en-US" sz="1400" dirty="0">
                <a:latin typeface="+mn-ea"/>
              </a:rPr>
              <a:t>개를 </a:t>
            </a:r>
            <a:r>
              <a:rPr lang="ko-KR" altLang="en-US" sz="1400" dirty="0" smtClean="0">
                <a:latin typeface="+mn-ea"/>
              </a:rPr>
              <a:t>선정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AI </a:t>
            </a:r>
            <a:r>
              <a:rPr lang="en-US" altLang="ko-KR" sz="1400" dirty="0">
                <a:latin typeface="+mn-ea"/>
              </a:rPr>
              <a:t>Score </a:t>
            </a:r>
            <a:r>
              <a:rPr lang="en-US" altLang="ko-KR" sz="1400" dirty="0" smtClean="0">
                <a:latin typeface="+mn-ea"/>
              </a:rPr>
              <a:t>:  ranking_score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0~100</a:t>
            </a:r>
            <a:r>
              <a:rPr lang="ko-KR" altLang="en-US" sz="1400" dirty="0">
                <a:latin typeface="+mn-ea"/>
              </a:rPr>
              <a:t>으로 </a:t>
            </a:r>
            <a:r>
              <a:rPr lang="en-US" altLang="ko-KR" sz="1400" dirty="0">
                <a:latin typeface="+mn-ea"/>
              </a:rPr>
              <a:t>min-max </a:t>
            </a:r>
            <a:r>
              <a:rPr lang="ko-KR" altLang="en-US" sz="1400" dirty="0" smtClean="0">
                <a:latin typeface="+mn-ea"/>
              </a:rPr>
              <a:t>정규화</a:t>
            </a:r>
            <a:endParaRPr lang="en-US" altLang="ko-KR" sz="1400" dirty="0" smtClean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AI </a:t>
            </a:r>
            <a:r>
              <a:rPr lang="en-US" altLang="ko-KR" sz="1400" dirty="0">
                <a:latin typeface="+mn-ea"/>
              </a:rPr>
              <a:t>Rank </a:t>
            </a:r>
            <a:r>
              <a:rPr lang="en-US" altLang="ko-KR" sz="1400" dirty="0" smtClean="0">
                <a:latin typeface="+mn-ea"/>
              </a:rPr>
              <a:t> :  </a:t>
            </a:r>
            <a:r>
              <a:rPr lang="en-US" altLang="ko-KR" sz="1400" dirty="0">
                <a:latin typeface="+mn-ea"/>
              </a:rPr>
              <a:t>ranking_score </a:t>
            </a:r>
            <a:r>
              <a:rPr lang="ko-KR" altLang="en-US" sz="1400" dirty="0">
                <a:latin typeface="+mn-ea"/>
              </a:rPr>
              <a:t>내림차순 </a:t>
            </a:r>
            <a:r>
              <a:rPr lang="ko-KR" altLang="en-US" sz="1400" dirty="0" smtClean="0">
                <a:latin typeface="+mn-ea"/>
              </a:rPr>
              <a:t>순위</a:t>
            </a:r>
            <a:endParaRPr lang="en-US" altLang="ko-KR" sz="1400" dirty="0" smtClean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AI </a:t>
            </a:r>
            <a:r>
              <a:rPr lang="en-US" altLang="ko-KR" sz="1400" dirty="0">
                <a:latin typeface="+mn-ea"/>
              </a:rPr>
              <a:t>Percentile = rank / universe_count × </a:t>
            </a:r>
            <a:r>
              <a:rPr lang="en-US" altLang="ko-KR" sz="1400" dirty="0" smtClean="0">
                <a:latin typeface="+mn-ea"/>
              </a:rPr>
              <a:t>100 </a:t>
            </a:r>
          </a:p>
          <a:p>
            <a:r>
              <a:rPr lang="en-US" altLang="ko-KR" sz="1400" dirty="0">
                <a:latin typeface="+mn-ea"/>
              </a:rPr>
              <a:t>	</a:t>
            </a:r>
            <a:r>
              <a:rPr lang="en-US" altLang="ko-KR" sz="1400" dirty="0" smtClean="0">
                <a:latin typeface="+mn-ea"/>
              </a:rPr>
              <a:t>		(</a:t>
            </a:r>
            <a:r>
              <a:rPr lang="ko-KR" altLang="en-US" sz="1400" dirty="0" smtClean="0">
                <a:latin typeface="+mn-ea"/>
              </a:rPr>
              <a:t>상위 몇 </a:t>
            </a:r>
            <a:r>
              <a:rPr lang="en-US" altLang="ko-KR" sz="1400" dirty="0" smtClean="0">
                <a:latin typeface="+mn-ea"/>
              </a:rPr>
              <a:t>% </a:t>
            </a:r>
            <a:r>
              <a:rPr lang="ko-KR" altLang="en-US" sz="1400" dirty="0" smtClean="0">
                <a:latin typeface="+mn-ea"/>
              </a:rPr>
              <a:t>그룹에 속하는지 표시</a:t>
            </a:r>
            <a:r>
              <a:rPr lang="en-US" altLang="ko-KR" sz="1400" dirty="0" smtClean="0">
                <a:latin typeface="+mn-ea"/>
              </a:rPr>
              <a:t>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541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Predicting Model Daily Pipeline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2603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628600"/>
            <a:ext cx="8229600" cy="856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500" dirty="0" smtClean="0"/>
              <a:t>영업일</a:t>
            </a:r>
            <a:r>
              <a:rPr lang="en-US" altLang="ko-KR" sz="2500" dirty="0" smtClean="0"/>
              <a:t> </a:t>
            </a:r>
            <a:r>
              <a:rPr lang="en-US" altLang="ko-KR" sz="2500" dirty="0"/>
              <a:t>S</a:t>
            </a:r>
            <a:r>
              <a:rPr lang="en-US" altLang="ko-KR" sz="2500" dirty="0" smtClean="0"/>
              <a:t>ize </a:t>
            </a:r>
            <a:r>
              <a:rPr lang="ko-KR" altLang="en-US" sz="2500" dirty="0" smtClean="0"/>
              <a:t>별 성능 비교</a:t>
            </a:r>
            <a:endParaRPr lang="en-US" sz="2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303"/>
            <a:ext cx="9144000" cy="399602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54731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01677"/>
            <a:ext cx="85401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주요항목 설명</a:t>
            </a:r>
            <a:endParaRPr lang="en-US" altLang="ko-KR" dirty="0" smtClean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b="1" dirty="0" smtClean="0"/>
              <a:t>Ranking RMSE </a:t>
            </a:r>
            <a:r>
              <a:rPr lang="en-US" altLang="ko-KR" sz="1400" dirty="0" smtClean="0">
                <a:latin typeface="+mn-ea"/>
              </a:rPr>
              <a:t>: </a:t>
            </a:r>
          </a:p>
          <a:p>
            <a:r>
              <a:rPr lang="en-US" altLang="ko-KR" sz="1400" dirty="0" smtClean="0">
                <a:latin typeface="+mn-ea"/>
              </a:rPr>
              <a:t>Ranking </a:t>
            </a:r>
            <a:r>
              <a:rPr lang="en-US" altLang="ko-KR" sz="1400" dirty="0">
                <a:latin typeface="+mn-ea"/>
              </a:rPr>
              <a:t>Model</a:t>
            </a:r>
            <a:r>
              <a:rPr lang="ko-KR" altLang="en-US" sz="1400" dirty="0">
                <a:latin typeface="+mn-ea"/>
              </a:rPr>
              <a:t>이 예측한 다음날 수익률과 실제 수익률의 평균 </a:t>
            </a:r>
            <a:r>
              <a:rPr lang="ko-KR" altLang="en-US" sz="1400" dirty="0" smtClean="0">
                <a:latin typeface="+mn-ea"/>
              </a:rPr>
              <a:t>오차</a:t>
            </a:r>
            <a:r>
              <a:rPr lang="en-US" altLang="ko-KR" sz="1400" dirty="0" smtClean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예</a:t>
            </a:r>
            <a:r>
              <a:rPr lang="en-US" altLang="ko-KR" sz="1400" dirty="0" smtClean="0">
                <a:latin typeface="+mn-ea"/>
              </a:rPr>
              <a:t>) </a:t>
            </a:r>
            <a:r>
              <a:rPr lang="ko-KR" altLang="en-US" sz="1400" dirty="0" smtClean="0">
                <a:latin typeface="+mn-ea"/>
              </a:rPr>
              <a:t>삼성전자 예측</a:t>
            </a:r>
            <a:r>
              <a:rPr lang="en-US" altLang="ko-KR" sz="1400" dirty="0" smtClean="0">
                <a:latin typeface="+mn-ea"/>
              </a:rPr>
              <a:t>: +</a:t>
            </a:r>
            <a:r>
              <a:rPr lang="en-US" altLang="ko-KR" sz="1400" dirty="0">
                <a:latin typeface="+mn-ea"/>
              </a:rPr>
              <a:t>2.0</a:t>
            </a:r>
            <a:r>
              <a:rPr lang="en-US" altLang="ko-KR" sz="1400" dirty="0" smtClean="0">
                <a:latin typeface="+mn-ea"/>
              </a:rPr>
              <a:t>% </a:t>
            </a:r>
            <a:r>
              <a:rPr lang="ko-KR" altLang="en-US" sz="1400" dirty="0" smtClean="0">
                <a:latin typeface="+mn-ea"/>
              </a:rPr>
              <a:t>실제</a:t>
            </a:r>
            <a:r>
              <a:rPr lang="en-US" altLang="ko-KR" sz="1400" dirty="0" smtClean="0">
                <a:latin typeface="+mn-ea"/>
              </a:rPr>
              <a:t>:  +</a:t>
            </a:r>
            <a:r>
              <a:rPr lang="en-US" altLang="ko-KR" sz="1400" dirty="0">
                <a:latin typeface="+mn-ea"/>
              </a:rPr>
              <a:t>1.2</a:t>
            </a:r>
            <a:r>
              <a:rPr lang="en-US" altLang="ko-KR" sz="1400" dirty="0" smtClean="0">
                <a:latin typeface="+mn-ea"/>
              </a:rPr>
              <a:t>%  </a:t>
            </a:r>
            <a:r>
              <a:rPr lang="ko-KR" altLang="en-US" sz="1400" dirty="0" smtClean="0">
                <a:latin typeface="+mn-ea"/>
              </a:rPr>
              <a:t>오차 </a:t>
            </a:r>
            <a:r>
              <a:rPr lang="en-US" altLang="ko-KR" sz="1400" dirty="0" smtClean="0">
                <a:latin typeface="+mn-ea"/>
              </a:rPr>
              <a:t>0.8%</a:t>
            </a:r>
          </a:p>
          <a:p>
            <a:r>
              <a:rPr lang="en-US" altLang="ko-KR" sz="1400" dirty="0">
                <a:latin typeface="+mn-ea"/>
              </a:rPr>
              <a:t>Ranking </a:t>
            </a:r>
            <a:r>
              <a:rPr lang="en-US" altLang="ko-KR" sz="1400" dirty="0" smtClean="0">
                <a:latin typeface="+mn-ea"/>
              </a:rPr>
              <a:t>RMSE = </a:t>
            </a:r>
            <a:r>
              <a:rPr lang="en-US" altLang="ko-KR" sz="1400" dirty="0" err="1" smtClean="0">
                <a:latin typeface="+mn-ea"/>
              </a:rPr>
              <a:t>sqrt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평균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예측수익률</a:t>
            </a:r>
            <a:r>
              <a:rPr lang="en-US" altLang="ko-KR" sz="1400" dirty="0">
                <a:latin typeface="+mn-ea"/>
              </a:rPr>
              <a:t>-</a:t>
            </a:r>
            <a:r>
              <a:rPr lang="ko-KR" altLang="en-US" sz="1400" dirty="0">
                <a:latin typeface="+mn-ea"/>
              </a:rPr>
              <a:t>실제수익률</a:t>
            </a:r>
            <a:r>
              <a:rPr lang="en-US" altLang="ko-KR" sz="1400" dirty="0">
                <a:latin typeface="+mn-ea"/>
              </a:rPr>
              <a:t>)^2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ko-KR" altLang="en-US" sz="1400" dirty="0" smtClean="0">
                <a:latin typeface="+mn-ea"/>
              </a:rPr>
              <a:t>해석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작을수록 좋음</a:t>
            </a:r>
            <a:r>
              <a:rPr lang="en-US" altLang="ko-KR" sz="1400" dirty="0" smtClean="0">
                <a:latin typeface="+mn-ea"/>
              </a:rPr>
              <a:t>. 0</a:t>
            </a:r>
            <a:r>
              <a:rPr lang="ko-KR" altLang="en-US" sz="1400" dirty="0">
                <a:latin typeface="+mn-ea"/>
              </a:rPr>
              <a:t>이면 완벽한 </a:t>
            </a:r>
            <a:r>
              <a:rPr lang="ko-KR" altLang="en-US" sz="1400" dirty="0" smtClean="0">
                <a:latin typeface="+mn-ea"/>
              </a:rPr>
              <a:t>예측</a:t>
            </a:r>
            <a:endParaRPr lang="en-US" altLang="ko-KR" sz="1400" dirty="0" smtClean="0">
              <a:latin typeface="+mn-ea"/>
            </a:endParaRPr>
          </a:p>
          <a:p>
            <a:endParaRPr lang="en-US" altLang="ko-KR" sz="1400" dirty="0"/>
          </a:p>
          <a:p>
            <a:r>
              <a:rPr lang="en-US" altLang="ko-KR" b="1" dirty="0"/>
              <a:t>2. Ranking IC (Information Coefficient</a:t>
            </a:r>
            <a:r>
              <a:rPr lang="en-US" altLang="ko-KR" b="1" dirty="0" smtClean="0"/>
              <a:t>) </a:t>
            </a:r>
          </a:p>
          <a:p>
            <a:r>
              <a:rPr lang="ko-KR" altLang="en-US" sz="1400" dirty="0" smtClean="0">
                <a:latin typeface="+mn-ea"/>
              </a:rPr>
              <a:t>모델이 어떤 </a:t>
            </a:r>
            <a:r>
              <a:rPr lang="ko-KR" altLang="en-US" sz="1400" dirty="0">
                <a:latin typeface="+mn-ea"/>
              </a:rPr>
              <a:t>종목이 더 </a:t>
            </a:r>
            <a:r>
              <a:rPr lang="ko-KR" altLang="en-US" sz="1400" dirty="0" smtClean="0">
                <a:latin typeface="+mn-ea"/>
              </a:rPr>
              <a:t>오를지를 얼마나 </a:t>
            </a:r>
            <a:r>
              <a:rPr lang="ko-KR" altLang="en-US" sz="1400" dirty="0">
                <a:latin typeface="+mn-ea"/>
              </a:rPr>
              <a:t>잘 순위화했는가를 </a:t>
            </a:r>
            <a:r>
              <a:rPr lang="ko-KR" altLang="en-US" sz="1400" dirty="0" smtClean="0">
                <a:latin typeface="+mn-ea"/>
              </a:rPr>
              <a:t>지수화</a:t>
            </a:r>
            <a:r>
              <a:rPr lang="en-US" altLang="ko-KR" sz="1400" dirty="0" smtClean="0">
                <a:latin typeface="+mn-ea"/>
              </a:rPr>
              <a:t>. ( -1 &lt; </a:t>
            </a:r>
            <a:r>
              <a:rPr lang="ko-KR" altLang="en-US" sz="1400" dirty="0">
                <a:latin typeface="+mn-ea"/>
              </a:rPr>
              <a:t>값</a:t>
            </a:r>
            <a:r>
              <a:rPr lang="en-US" altLang="ko-KR" sz="1400" dirty="0" smtClean="0">
                <a:latin typeface="+mn-ea"/>
              </a:rPr>
              <a:t>  &lt; 1 )</a:t>
            </a:r>
          </a:p>
          <a:p>
            <a:endParaRPr lang="en-US" altLang="ko-KR" b="1" dirty="0"/>
          </a:p>
          <a:p>
            <a:r>
              <a:rPr lang="en-US" altLang="ko-KR" b="1" dirty="0"/>
              <a:t>3. Gap </a:t>
            </a:r>
            <a:r>
              <a:rPr lang="en-US" altLang="ko-KR" b="1" dirty="0" smtClean="0"/>
              <a:t>RMSE </a:t>
            </a:r>
          </a:p>
          <a:p>
            <a:r>
              <a:rPr lang="en-US" altLang="ko-KR" sz="1400" dirty="0" smtClean="0">
                <a:latin typeface="+mn-ea"/>
              </a:rPr>
              <a:t>Gap </a:t>
            </a:r>
            <a:r>
              <a:rPr lang="en-US" altLang="ko-KR" sz="1400" dirty="0">
                <a:latin typeface="+mn-ea"/>
              </a:rPr>
              <a:t>Model</a:t>
            </a:r>
            <a:r>
              <a:rPr lang="ko-KR" altLang="en-US" sz="1400" dirty="0">
                <a:latin typeface="+mn-ea"/>
              </a:rPr>
              <a:t>이 예측한 </a:t>
            </a:r>
            <a:r>
              <a:rPr lang="ko-KR" altLang="en-US" sz="1400" dirty="0" smtClean="0">
                <a:latin typeface="+mn-ea"/>
              </a:rPr>
              <a:t>전일 종가 대비 당일 시가 수익률 평균 </a:t>
            </a:r>
            <a:r>
              <a:rPr lang="ko-KR" altLang="en-US" sz="1400" dirty="0">
                <a:latin typeface="+mn-ea"/>
              </a:rPr>
              <a:t>오차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4</a:t>
            </a:r>
            <a:r>
              <a:rPr lang="en-US" altLang="ko-KR" b="1" dirty="0"/>
              <a:t>. Gap Direction Accuracy</a:t>
            </a:r>
          </a:p>
          <a:p>
            <a:r>
              <a:rPr lang="en-US" altLang="ko-KR" sz="1400" dirty="0">
                <a:latin typeface="+mj-ea"/>
                <a:ea typeface="+mj-ea"/>
              </a:rPr>
              <a:t>Gap</a:t>
            </a:r>
            <a:r>
              <a:rPr lang="ko-KR" altLang="en-US" sz="1400" dirty="0">
                <a:latin typeface="+mj-ea"/>
                <a:ea typeface="+mj-ea"/>
              </a:rPr>
              <a:t>의 방향을 맞춘 </a:t>
            </a:r>
            <a:r>
              <a:rPr lang="ko-KR" altLang="en-US" sz="1400" dirty="0" smtClean="0">
                <a:latin typeface="+mj-ea"/>
                <a:ea typeface="+mj-ea"/>
              </a:rPr>
              <a:t>비율</a:t>
            </a:r>
            <a:r>
              <a:rPr lang="en-US" altLang="ko-KR" sz="1400" dirty="0" smtClean="0">
                <a:latin typeface="+mj-ea"/>
                <a:ea typeface="+mj-ea"/>
              </a:rPr>
              <a:t>. </a:t>
            </a:r>
            <a:r>
              <a:rPr lang="en-US" altLang="ko-KR" sz="1400" dirty="0">
                <a:latin typeface="+mj-ea"/>
                <a:ea typeface="+mj-ea"/>
              </a:rPr>
              <a:t>Direction </a:t>
            </a:r>
            <a:r>
              <a:rPr lang="en-US" altLang="ko-KR" sz="1400" dirty="0" smtClean="0">
                <a:latin typeface="+mj-ea"/>
                <a:ea typeface="+mj-ea"/>
              </a:rPr>
              <a:t>Accuracy = </a:t>
            </a:r>
            <a:r>
              <a:rPr lang="ko-KR" altLang="en-US" sz="1400" dirty="0" smtClean="0">
                <a:latin typeface="+mj-ea"/>
                <a:ea typeface="+mj-ea"/>
              </a:rPr>
              <a:t>맞춘 개수 </a:t>
            </a:r>
            <a:r>
              <a:rPr lang="en-US" altLang="ko-KR" sz="1400" dirty="0" smtClean="0">
                <a:latin typeface="+mj-ea"/>
                <a:ea typeface="+mj-ea"/>
              </a:rPr>
              <a:t>/ </a:t>
            </a:r>
            <a:r>
              <a:rPr lang="ko-KR" altLang="en-US" sz="1400" dirty="0" smtClean="0">
                <a:latin typeface="+mj-ea"/>
                <a:ea typeface="+mj-ea"/>
              </a:rPr>
              <a:t>전체 </a:t>
            </a:r>
            <a:r>
              <a:rPr lang="ko-KR" altLang="en-US" sz="1400" dirty="0">
                <a:latin typeface="+mj-ea"/>
                <a:ea typeface="+mj-ea"/>
              </a:rPr>
              <a:t>개수</a:t>
            </a:r>
            <a:endParaRPr lang="en-US" altLang="ko-KR" sz="1400" dirty="0">
              <a:latin typeface="+mj-ea"/>
              <a:ea typeface="+mj-ea"/>
            </a:endParaRPr>
          </a:p>
          <a:p>
            <a:endParaRPr lang="en-US" altLang="ko-KR" b="1" dirty="0" smtClean="0"/>
          </a:p>
          <a:p>
            <a:r>
              <a:rPr lang="en-US" altLang="ko-KR" b="1" dirty="0" smtClean="0"/>
              <a:t>7</a:t>
            </a:r>
            <a:r>
              <a:rPr lang="en-US" altLang="ko-KR" b="1" dirty="0"/>
              <a:t>. Top10 Average Return</a:t>
            </a:r>
          </a:p>
          <a:p>
            <a:r>
              <a:rPr lang="ko-KR" altLang="en-US" sz="1400" dirty="0">
                <a:latin typeface="+mj-ea"/>
                <a:ea typeface="+mj-ea"/>
              </a:rPr>
              <a:t>가장 직관적인 투자 </a:t>
            </a:r>
            <a:r>
              <a:rPr lang="ko-KR" altLang="en-US" sz="1400" dirty="0" smtClean="0">
                <a:latin typeface="+mj-ea"/>
                <a:ea typeface="+mj-ea"/>
              </a:rPr>
              <a:t>성과</a:t>
            </a:r>
            <a:r>
              <a:rPr lang="en-US" altLang="ko-KR" sz="1400" dirty="0" smtClean="0">
                <a:latin typeface="+mj-ea"/>
                <a:ea typeface="+mj-ea"/>
              </a:rPr>
              <a:t>.  Ex) Top10 </a:t>
            </a:r>
            <a:r>
              <a:rPr lang="ko-KR" altLang="en-US" sz="1400" dirty="0" smtClean="0">
                <a:latin typeface="+mj-ea"/>
                <a:ea typeface="+mj-ea"/>
              </a:rPr>
              <a:t>평균 </a:t>
            </a:r>
            <a:r>
              <a:rPr lang="en-US" altLang="ko-KR" sz="1400" dirty="0" smtClean="0">
                <a:latin typeface="+mj-ea"/>
                <a:ea typeface="+mj-ea"/>
              </a:rPr>
              <a:t>+0.98%  </a:t>
            </a:r>
            <a:r>
              <a:rPr lang="ko-KR" altLang="en-US" sz="1400" dirty="0">
                <a:latin typeface="+mj-ea"/>
                <a:ea typeface="+mj-ea"/>
              </a:rPr>
              <a:t>오늘 </a:t>
            </a:r>
            <a:r>
              <a:rPr lang="en-US" altLang="ko-KR" sz="1400" dirty="0">
                <a:latin typeface="+mj-ea"/>
                <a:ea typeface="+mj-ea"/>
              </a:rPr>
              <a:t>Top10</a:t>
            </a:r>
            <a:r>
              <a:rPr lang="ko-KR" altLang="en-US" sz="1400" dirty="0">
                <a:latin typeface="+mj-ea"/>
                <a:ea typeface="+mj-ea"/>
              </a:rPr>
              <a:t>을 </a:t>
            </a:r>
            <a:r>
              <a:rPr lang="ko-KR" altLang="en-US" sz="1400" dirty="0" smtClean="0">
                <a:latin typeface="+mj-ea"/>
                <a:ea typeface="+mj-ea"/>
              </a:rPr>
              <a:t>샀다면 평균 </a:t>
            </a:r>
            <a:r>
              <a:rPr lang="en-US" altLang="ko-KR" sz="1400" dirty="0" smtClean="0">
                <a:latin typeface="+mj-ea"/>
                <a:ea typeface="+mj-ea"/>
              </a:rPr>
              <a:t>+0.98% </a:t>
            </a:r>
            <a:r>
              <a:rPr lang="ko-KR" altLang="en-US" sz="1400" dirty="0" smtClean="0">
                <a:latin typeface="+mj-ea"/>
                <a:ea typeface="+mj-ea"/>
              </a:rPr>
              <a:t>수익률</a:t>
            </a:r>
            <a:endParaRPr lang="ko-KR" altLang="en-US" sz="1400" b="1" dirty="0">
              <a:latin typeface="+mj-ea"/>
              <a:ea typeface="+mj-ea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04588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  <p:sp>
        <p:nvSpPr>
          <p:cNvPr id="3" name="직사각형 2"/>
          <p:cNvSpPr/>
          <p:nvPr/>
        </p:nvSpPr>
        <p:spPr>
          <a:xfrm>
            <a:off x="2286000" y="-633650"/>
            <a:ext cx="4572000" cy="81253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date,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ticker,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trading_value,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return_1d,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return_3d,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return_5d,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return_20d,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return_60d,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close_ma5_ratio,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close_ma20_ratio,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close_ma60_ratio,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momentum_diff,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momentum_accel,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relative_return_5d_vs_market,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relative_return_20d_vs_market,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relative_return_20d_vs_sector,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volume_change_1d,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relative_trading_value,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trading_value_rank_pct,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volatility_5d,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volatility_20d,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intraday_range_5d,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atr_percent,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volatility_rank_pct,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body,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upper_shadow,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lower_shadow,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body_ratio,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close_position,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high_20d,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low_20d,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close_to_20d_high,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close_to_20d_low,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breakout_strength,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breakout_rank_pct,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rsi14,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rsi_change_5d,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macd_hist_ratio,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bb_position,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bb_width,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bb_position_change_5d,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rsi_rank_pct,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macd_rank_pct,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bb_position_rank_pct,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atr_rank_pct,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return_5d_rank_pct,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return_20d_rank_pct,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momentum_diff_rank_pct,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volume_change_rank_pct,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bb_width_rank_pct,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low_rebound_rank_pct,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nasdaq_return_1d,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sox_return_1d,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sp500_return_1d,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vix_change_1d,</a:t>
            </a:r>
            <a:r>
              <a:rPr lang="en-US" altLang="ko-KR" dirty="0">
                <a:solidFill>
                  <a:srgbClr val="FFA657"/>
                </a:solidFill>
                <a:latin typeface="Consolas" panose="020B0609020204030204" pitchFamily="49" charset="0"/>
              </a:rPr>
              <a:t>usdkrw_return_1d,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wti_return_1d,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feature_date,</a:t>
            </a:r>
            <a:r>
              <a:rPr lang="en-US" altLang="ko-KR" b="1" dirty="0">
                <a:solidFill>
                  <a:srgbClr val="C9D1D9"/>
                </a:solidFill>
                <a:latin typeface="Consolas" panose="020B0609020204030204" pitchFamily="49" charset="0"/>
              </a:rPr>
              <a:t>target_date,</a:t>
            </a:r>
            <a:r>
              <a:rPr lang="en-US" altLang="ko-KR" dirty="0">
                <a:solidFill>
                  <a:srgbClr val="F44747"/>
                </a:solidFill>
                <a:latin typeface="Consolas" panose="020B0609020204030204" pitchFamily="49" charset="0"/>
              </a:rPr>
              <a:t>prev_close,</a:t>
            </a:r>
            <a:r>
              <a:rPr lang="en-US" altLang="ko-KR" dirty="0">
                <a:solidFill>
                  <a:srgbClr val="BBBEBF"/>
                </a:solidFill>
                <a:latin typeface="Consolas" panose="020B0609020204030204" pitchFamily="49" charset="0"/>
              </a:rPr>
              <a:t>target_ranking,</a:t>
            </a:r>
            <a:r>
              <a:rPr lang="en-US" altLang="ko-KR" dirty="0">
                <a:solidFill>
                  <a:srgbClr val="FF7B72"/>
                </a:solidFill>
                <a:latin typeface="Consolas" panose="020B0609020204030204" pitchFamily="49" charset="0"/>
              </a:rPr>
              <a:t>target_gap,</a:t>
            </a:r>
            <a:r>
              <a:rPr lang="en-US" altLang="ko-KR" dirty="0">
                <a:solidFill>
                  <a:srgbClr val="D2A8FF"/>
                </a:solidFill>
                <a:latin typeface="Consolas" panose="020B0609020204030204" pitchFamily="49" charset="0"/>
              </a:rPr>
              <a:t>target_intraday,</a:t>
            </a:r>
            <a:r>
              <a:rPr lang="en-US" altLang="ko-KR" dirty="0">
                <a:solidFill>
                  <a:srgbClr val="8B949E"/>
                </a:solidFill>
                <a:latin typeface="Consolas" panose="020B0609020204030204" pitchFamily="49" charset="0"/>
              </a:rPr>
              <a:t>prediction_horizon</a:t>
            </a:r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8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143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Predicting</a:t>
            </a:r>
            <a:r>
              <a:rPr sz="3600" dirty="0" smtClean="0"/>
              <a:t> </a:t>
            </a:r>
            <a:r>
              <a:rPr lang="en-US" sz="3600" dirty="0"/>
              <a:t>M</a:t>
            </a:r>
            <a:r>
              <a:rPr lang="en-US" sz="3600" dirty="0" smtClean="0"/>
              <a:t>odel Daily </a:t>
            </a:r>
            <a:r>
              <a:rPr sz="3600" dirty="0" smtClean="0"/>
              <a:t>Pipeline</a:t>
            </a:r>
            <a:endParaRPr sz="36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05541"/>
              </p:ext>
            </p:extLst>
          </p:nvPr>
        </p:nvGraphicFramePr>
        <p:xfrm>
          <a:off x="1652280" y="1323975"/>
          <a:ext cx="2676730" cy="4525962"/>
        </p:xfrm>
        <a:graphic>
          <a:graphicData uri="http://schemas.openxmlformats.org/drawingml/2006/table">
            <a:tbl>
              <a:tblPr/>
              <a:tblGrid>
                <a:gridCol w="1090914"/>
                <a:gridCol w="1585816"/>
              </a:tblGrid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수익률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모멘텀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Momentum Features)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주가가 최근 얼마나 강하게 상승 또는 하락했는지를 나타냄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return_1d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return_3d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return_5d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return_20d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return_60d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momentum_diff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단기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장기 모멘텀 차이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momentum_accel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모멘텀 가속도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return_5d_rank_pct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return_20d_rank_pct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수익률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momentum_diff_rank_pct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모멘텀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이동평균 추세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Trend Features)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주가가 이동평균선 대비 어느 위치에 있는가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close_ma5_ratio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종가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이동평균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close_ma20_ratio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종가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이동평균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close_ma60_ratio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종가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60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이동평균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상대강도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Relative Strength)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시장 또는 섹터 대비 얼마나 강한가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relative_return_5d_vs_market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시장 대비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초과수익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relative_return_20d_vs_market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시장 대비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초과수익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relative_return_20d_vs_sector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섹터 대비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초과수익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거래대금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유동성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Liquidity Features)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기관과 외국인의 관심도를 간접적으로 측정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trading_value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거래대금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volume_change_1d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 증가율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relative_trading_value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 거래대금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trading_value_rank_pct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거래대금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volume_change_rank_pct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 증가율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변동성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Volatility Features)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776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크게 움직이는 종목인가</a:t>
                      </a:r>
                    </a:p>
                  </a:txBody>
                  <a:tcPr marL="3991" marR="3991" marT="3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volatility_5d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변동성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volatility_20d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변동성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intraday_range_5d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일중 변동폭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atr_percent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 %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volatility_rank_pct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변동성 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atr_rank_pct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백분위</a:t>
                      </a:r>
                    </a:p>
                  </a:txBody>
                  <a:tcPr marL="3991" marR="3991" marT="39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409029"/>
              </p:ext>
            </p:extLst>
          </p:nvPr>
        </p:nvGraphicFramePr>
        <p:xfrm>
          <a:off x="4728816" y="1323975"/>
          <a:ext cx="2810567" cy="4525960"/>
        </p:xfrm>
        <a:graphic>
          <a:graphicData uri="http://schemas.openxmlformats.org/drawingml/2006/table">
            <a:tbl>
              <a:tblPr/>
              <a:tblGrid>
                <a:gridCol w="1145460"/>
                <a:gridCol w="1665107"/>
              </a:tblGrid>
              <a:tr h="11314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캔들스틱 패턴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Candlestick Features)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314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당일 매수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매도 세력의 힘을 표현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3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body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몸통 크기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upper_shadow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윗꼬리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lower_shadow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아랫꼬리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body_ratio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몸통 비율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close_position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종가 위치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돌파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Breakout)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신고가 돌파 여부 측정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high_20d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최고가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low_20d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최저가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close_to_20d_high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고점 대비 거리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close_to_20d_low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저점 대비 거리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breakout_strength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돌파 강도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breakout_rank_pct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돌파 강도 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low_rebound_rank_pct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저점 반등 강도 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기술적 지표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Technical Indicators)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전통적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Technical Analysis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rsi14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RSI(14)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rsi_change_5d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macd_hist_ratio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MACD Histogram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bb_position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볼린저밴드 위치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bb_width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볼린저밴드 폭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bb_position_change_5d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변화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RSI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macd_rank_pct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MACD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bb_position_rank_pct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bb_width_rank_pct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폭 백분위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 </a:t>
                      </a: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거시경제 </a:t>
                      </a: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 Features)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미국 시장 영향</a:t>
                      </a: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91" marR="4191" marT="41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Feature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nasdaq_return_1d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NASDAQ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수익률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sox_return_1d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반도체지수 수익률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sp500_return_1d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S&amp;P500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수익률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vix_change_1d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VIX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변화율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usdkrw_return_1d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환율 변화율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wti_return_1d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WTI 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변화율</a:t>
                      </a:r>
                    </a:p>
                  </a:txBody>
                  <a:tcPr marL="4191" marR="4191" marT="41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76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704</Words>
  <Application>Microsoft Office PowerPoint</Application>
  <PresentationFormat>화면 슬라이드 쇼(4:3)</PresentationFormat>
  <Paragraphs>273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Predicting Model Daily Pipeline</vt:lpstr>
      <vt:lpstr>Predicting Model Daily Pipeline</vt:lpstr>
      <vt:lpstr>PowerPoint 프레젠테이션</vt:lpstr>
      <vt:lpstr>Predicting Model Daily Pipeline</vt:lpstr>
      <vt:lpstr>Predicting Model Daily Pipeline</vt:lpstr>
      <vt:lpstr>Predicting Model Daily Pipeline</vt:lpstr>
      <vt:lpstr>Predicting Model Daily Pipeline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AI Trading Pipeline (Slide 1)</dc:title>
  <dc:subject/>
  <dc:creator>Dell3571</dc:creator>
  <cp:keywords/>
  <dc:description>generated using python-pptx</dc:description>
  <cp:lastModifiedBy>Dell3571</cp:lastModifiedBy>
  <cp:revision>30</cp:revision>
  <dcterms:created xsi:type="dcterms:W3CDTF">2013-01-27T09:14:16Z</dcterms:created>
  <dcterms:modified xsi:type="dcterms:W3CDTF">2026-06-22T04:34:18Z</dcterms:modified>
  <cp:category/>
</cp:coreProperties>
</file>